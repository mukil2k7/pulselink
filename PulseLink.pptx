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Montserrat"/>
      <p:regular r:id="rId37"/>
      <p:bold r:id="rId38"/>
      <p:italic r:id="rId39"/>
      <p:boldItalic r:id="rId40"/>
    </p:embeddedFont>
    <p:embeddedFont>
      <p:font typeface="Lat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22" Type="http://schemas.openxmlformats.org/officeDocument/2006/relationships/slide" Target="slides/slide17.xml"/><Relationship Id="rId44" Type="http://schemas.openxmlformats.org/officeDocument/2006/relationships/font" Target="fonts/Lato-boldItalic.fntdata"/><Relationship Id="rId21" Type="http://schemas.openxmlformats.org/officeDocument/2006/relationships/slide" Target="slides/slide16.xml"/><Relationship Id="rId43" Type="http://schemas.openxmlformats.org/officeDocument/2006/relationships/font" Target="fonts/Lat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italic.fntdata"/><Relationship Id="rId12" Type="http://schemas.openxmlformats.org/officeDocument/2006/relationships/slide" Target="slides/slide7.xml"/><Relationship Id="rId34" Type="http://schemas.openxmlformats.org/officeDocument/2006/relationships/font" Target="fonts/Roboto-bold.fntdata"/><Relationship Id="rId15" Type="http://schemas.openxmlformats.org/officeDocument/2006/relationships/slide" Target="slides/slide10.xml"/><Relationship Id="rId37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f76565d08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f76565d08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f59e8dec5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f59e8dec5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f59e8dec5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f59e8dec5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f76565d08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f76565d08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f76565d08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f76565d08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f76565d08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f76565d08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f76565d08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f76565d08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f76565d08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f76565d08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f76565d08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f76565d08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f76565d08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f76565d08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f76565d08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f76565d08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f7d0dbc1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f7d0dbc1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f7d0dbc1b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f7d0dbc1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f7d0dbc1b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9f7d0dbc1b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f7d0dbc1b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f7d0dbc1b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f7d0dbc1b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f7d0dbc1b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f76565d0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f76565d0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f76565d0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f76565d0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f76565d0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9f76565d0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f76565d0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9f76565d0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f76565d0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9f76565d0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f76565d0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9f76565d0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f76565d0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f76565d0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f76565d0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9f76565d0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f76565d08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9f76565d0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f76565d08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9f76565d08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PULSE LINK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ctrTitle"/>
          </p:nvPr>
        </p:nvSpPr>
        <p:spPr>
          <a:xfrm>
            <a:off x="1958125" y="4215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INTRODUCTION</a:t>
            </a:r>
            <a:endParaRPr b="1"/>
          </a:p>
        </p:txBody>
      </p:sp>
      <p:sp>
        <p:nvSpPr>
          <p:cNvPr id="140" name="Google Shape;140;p14"/>
          <p:cNvSpPr txBox="1"/>
          <p:nvPr>
            <p:ph idx="1" type="subTitle"/>
          </p:nvPr>
        </p:nvSpPr>
        <p:spPr>
          <a:xfrm>
            <a:off x="169325" y="1257300"/>
            <a:ext cx="8304300" cy="3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7662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Char char="●"/>
            </a:pPr>
            <a:r>
              <a:rPr b="1"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Pulse Link</a:t>
            </a:r>
            <a:r>
              <a:rPr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is an innovative health monitoring system.</a:t>
            </a:r>
            <a:br>
              <a:rPr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7662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Char char="●"/>
            </a:pPr>
            <a:r>
              <a:rPr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measures your </a:t>
            </a:r>
            <a:r>
              <a:rPr b="1"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heartbeat in </a:t>
            </a:r>
            <a:r>
              <a:rPr b="1"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real-time</a:t>
            </a:r>
            <a:r>
              <a:rPr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using smart sensors.</a:t>
            </a:r>
            <a:r>
              <a:rPr b="1"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br>
              <a:rPr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7662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Char char="●"/>
            </a:pPr>
            <a:r>
              <a:rPr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data is sent to a </a:t>
            </a:r>
            <a:r>
              <a:rPr b="1"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interface</a:t>
            </a:r>
            <a:r>
              <a:rPr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allowing live monitoring.</a:t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7662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Char char="●"/>
            </a:pPr>
            <a:r>
              <a:rPr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Designed to enhance </a:t>
            </a:r>
            <a:r>
              <a:rPr b="1"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personal health tracking</a:t>
            </a:r>
            <a:r>
              <a:rPr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GB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remote healthcare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Objective</a:t>
            </a:r>
            <a:endParaRPr b="1"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974550"/>
            <a:ext cx="7038900" cy="3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develop a system that can:</a:t>
            </a: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Accurately </a:t>
            </a:r>
            <a:r>
              <a:rPr b="1"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 heart rate</a:t>
            </a:r>
            <a:r>
              <a:rPr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 real-time.</a:t>
            </a:r>
            <a:br>
              <a:rPr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●"/>
            </a:pPr>
            <a:r>
              <a:rPr b="1"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Transmit data wirelessly</a:t>
            </a:r>
            <a:r>
              <a:rPr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to a live web dashboard.</a:t>
            </a:r>
            <a:br>
              <a:rPr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Allow </a:t>
            </a:r>
            <a:r>
              <a:rPr b="1"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remote monitoring</a:t>
            </a:r>
            <a:r>
              <a:rPr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by doctors or family members.</a:t>
            </a:r>
            <a:br>
              <a:rPr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Promote </a:t>
            </a:r>
            <a:r>
              <a:rPr b="1"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early detection</a:t>
            </a:r>
            <a:r>
              <a:rPr lang="en-GB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of health issues</a:t>
            </a: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Working Principle</a:t>
            </a:r>
            <a:endParaRPr b="1"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106850"/>
            <a:ext cx="7038900" cy="30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1</a:t>
            </a:r>
            <a:r>
              <a:rPr lang="en-GB" sz="1600">
                <a:solidFill>
                  <a:srgbClr val="FFFFFF"/>
                </a:solidFill>
              </a:rPr>
              <a:t>. The pulse sensor captures analog heartbeats.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</a:rPr>
              <a:t>2. The microcontroller converts signals into digital data.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</a:rPr>
              <a:t>3. Data is transmitted to a web server via the internet.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</a:rPr>
              <a:t>4. The web interface updates in real time, showing pulse rate trends and alerts.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02050" y="20163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HARDWARE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1127825" y="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Components 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1041175" y="671850"/>
            <a:ext cx="81027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002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55"/>
              <a:buFont typeface="Arial"/>
              <a:buAutoNum type="arabicParenR"/>
            </a:pPr>
            <a:r>
              <a:rPr b="1" lang="en-GB" sz="1754">
                <a:latin typeface="Arial"/>
                <a:ea typeface="Arial"/>
                <a:cs typeface="Arial"/>
                <a:sym typeface="Arial"/>
              </a:rPr>
              <a:t>Pulse Sensor (e.g., Pulse Sensor Amped)</a:t>
            </a:r>
            <a:endParaRPr b="1" sz="175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4">
                <a:latin typeface="Arial"/>
                <a:ea typeface="Arial"/>
                <a:cs typeface="Arial"/>
                <a:sym typeface="Arial"/>
              </a:rPr>
              <a:t>      Detects heartbeat via changes in blood flow. Outputs analog voltage signal.</a:t>
            </a:r>
            <a:endParaRPr sz="205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4">
              <a:latin typeface="Arial"/>
              <a:ea typeface="Arial"/>
              <a:cs typeface="Arial"/>
              <a:sym typeface="Arial"/>
            </a:endParaRPr>
          </a:p>
          <a:p>
            <a:pPr indent="-34002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55"/>
              <a:buFont typeface="Arial"/>
              <a:buAutoNum type="arabicParenR"/>
            </a:pPr>
            <a:r>
              <a:rPr b="1" lang="en-GB" sz="1754">
                <a:latin typeface="Arial"/>
                <a:ea typeface="Arial"/>
                <a:cs typeface="Arial"/>
                <a:sym typeface="Arial"/>
              </a:rPr>
              <a:t>Microcontroller (ESP32 / NodeMCU / Arduino + ESP8266)</a:t>
            </a:r>
            <a:endParaRPr b="1" sz="175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4">
                <a:latin typeface="Arial"/>
                <a:ea typeface="Arial"/>
                <a:cs typeface="Arial"/>
                <a:sym typeface="Arial"/>
              </a:rPr>
              <a:t>Reads sensor data and transmits it via Wi-Fi.</a:t>
            </a:r>
            <a:endParaRPr sz="205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4">
              <a:latin typeface="Arial"/>
              <a:ea typeface="Arial"/>
              <a:cs typeface="Arial"/>
              <a:sym typeface="Arial"/>
            </a:endParaRPr>
          </a:p>
          <a:p>
            <a:pPr indent="-34002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55"/>
              <a:buFont typeface="Arial"/>
              <a:buAutoNum type="arabicParenR"/>
            </a:pPr>
            <a:r>
              <a:rPr b="1" lang="en-GB" sz="1754">
                <a:latin typeface="Arial"/>
                <a:ea typeface="Arial"/>
                <a:cs typeface="Arial"/>
                <a:sym typeface="Arial"/>
              </a:rPr>
              <a:t>Power Source (5V/3.3V)</a:t>
            </a:r>
            <a:endParaRPr b="1" sz="175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4">
                <a:latin typeface="Arial"/>
                <a:ea typeface="Arial"/>
                <a:cs typeface="Arial"/>
                <a:sym typeface="Arial"/>
              </a:rPr>
              <a:t>Powers the circuit. Could be USB or battery.</a:t>
            </a:r>
            <a:endParaRPr sz="205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4">
              <a:latin typeface="Arial"/>
              <a:ea typeface="Arial"/>
              <a:cs typeface="Arial"/>
              <a:sym typeface="Arial"/>
            </a:endParaRPr>
          </a:p>
          <a:p>
            <a:pPr indent="-34002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55"/>
              <a:buFont typeface="Arial"/>
              <a:buAutoNum type="arabicParenR"/>
            </a:pPr>
            <a:r>
              <a:rPr b="1" lang="en-GB" sz="1754">
                <a:latin typeface="Arial"/>
                <a:ea typeface="Arial"/>
                <a:cs typeface="Arial"/>
                <a:sym typeface="Arial"/>
              </a:rPr>
              <a:t>Resistors &amp; Jumper Wires</a:t>
            </a:r>
            <a:endParaRPr b="1" sz="175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4">
                <a:latin typeface="Arial"/>
                <a:ea typeface="Arial"/>
                <a:cs typeface="Arial"/>
                <a:sym typeface="Arial"/>
              </a:rPr>
              <a:t>For proper connections.</a:t>
            </a:r>
            <a:endParaRPr sz="205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4">
              <a:latin typeface="Arial"/>
              <a:ea typeface="Arial"/>
              <a:cs typeface="Arial"/>
              <a:sym typeface="Arial"/>
            </a:endParaRPr>
          </a:p>
          <a:p>
            <a:pPr indent="-34002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55"/>
              <a:buFont typeface="Arial"/>
              <a:buAutoNum type="arabicParenR"/>
            </a:pPr>
            <a:r>
              <a:rPr b="1" lang="en-GB" sz="1754">
                <a:latin typeface="Arial"/>
                <a:ea typeface="Arial"/>
                <a:cs typeface="Arial"/>
                <a:sym typeface="Arial"/>
              </a:rPr>
              <a:t>Breadboard / PCB</a:t>
            </a:r>
            <a:endParaRPr b="1" sz="175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4">
                <a:latin typeface="Arial"/>
                <a:ea typeface="Arial"/>
                <a:cs typeface="Arial"/>
                <a:sym typeface="Arial"/>
              </a:rPr>
              <a:t>To build and test the circuit.</a:t>
            </a:r>
            <a:endParaRPr sz="205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1297500" y="0"/>
            <a:ext cx="70389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Parts of Pulse Sensor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86725" y="714275"/>
            <a:ext cx="5229600" cy="44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20">
                <a:solidFill>
                  <a:schemeClr val="dk1"/>
                </a:solidFill>
                <a:highlight>
                  <a:srgbClr val="C00000"/>
                </a:highlight>
              </a:rPr>
              <a:t>VCC</a:t>
            </a:r>
            <a:r>
              <a:rPr lang="en-GB" sz="2720">
                <a:solidFill>
                  <a:schemeClr val="dk1"/>
                </a:solidFill>
                <a:highlight>
                  <a:srgbClr val="FFFFFF"/>
                </a:highlight>
              </a:rPr>
              <a:t>- It is the power supply pin of the sensor module.</a:t>
            </a:r>
            <a:endParaRPr sz="272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2720">
                <a:solidFill>
                  <a:schemeClr val="dk1"/>
                </a:solidFill>
                <a:highlight>
                  <a:srgbClr val="C00000"/>
                </a:highlight>
              </a:rPr>
              <a:t>GND</a:t>
            </a:r>
            <a:r>
              <a:rPr lang="en-GB" sz="2720">
                <a:solidFill>
                  <a:schemeClr val="dk1"/>
                </a:solidFill>
                <a:highlight>
                  <a:srgbClr val="FFFFFF"/>
                </a:highlight>
              </a:rPr>
              <a:t> - It is the ground pin of the sensor module.</a:t>
            </a:r>
            <a:endParaRPr sz="272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2720">
                <a:solidFill>
                  <a:schemeClr val="dk1"/>
                </a:solidFill>
                <a:highlight>
                  <a:srgbClr val="C00000"/>
                </a:highlight>
              </a:rPr>
              <a:t>Signal</a:t>
            </a:r>
            <a:r>
              <a:rPr lang="en-GB" sz="2720">
                <a:solidFill>
                  <a:schemeClr val="dk1"/>
                </a:solidFill>
                <a:highlight>
                  <a:srgbClr val="FFFFFF"/>
                </a:highlight>
              </a:rPr>
              <a:t> - It is the Analog Output Signal Pin of the sensor module.</a:t>
            </a:r>
            <a:endParaRPr sz="272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2720">
                <a:solidFill>
                  <a:srgbClr val="121212"/>
                </a:solidFill>
                <a:highlight>
                  <a:srgbClr val="FFFFFF"/>
                </a:highlight>
              </a:rPr>
              <a:t>At the front of the heartbeat sensor we have the photodiode and the IR Leds to detect the heartbeat.</a:t>
            </a:r>
            <a:endParaRPr sz="2720">
              <a:solidFill>
                <a:srgbClr val="121212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2720">
                <a:solidFill>
                  <a:srgbClr val="121212"/>
                </a:solidFill>
                <a:highlight>
                  <a:srgbClr val="FFFFFF"/>
                </a:highlight>
              </a:rPr>
              <a:t>VCC → 3.3V</a:t>
            </a:r>
            <a:endParaRPr sz="2720">
              <a:solidFill>
                <a:srgbClr val="121212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2720">
                <a:solidFill>
                  <a:srgbClr val="121212"/>
                </a:solidFill>
                <a:highlight>
                  <a:srgbClr val="FFFFFF"/>
                </a:highlight>
              </a:rPr>
              <a:t>GND → GND</a:t>
            </a:r>
            <a:endParaRPr sz="2720">
              <a:solidFill>
                <a:srgbClr val="121212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1500"/>
              </a:spcBef>
              <a:spcAft>
                <a:spcPts val="1500"/>
              </a:spcAft>
              <a:buNone/>
            </a:pPr>
            <a:r>
              <a:rPr lang="en-GB" sz="2720">
                <a:solidFill>
                  <a:srgbClr val="121212"/>
                </a:solidFill>
                <a:highlight>
                  <a:srgbClr val="FFFFFF"/>
                </a:highlight>
              </a:rPr>
              <a:t>Signal → A0 (Analog Pin of ESP32)</a:t>
            </a:r>
            <a:endParaRPr/>
          </a:p>
        </p:txBody>
      </p:sp>
      <p:pic>
        <p:nvPicPr>
          <p:cNvPr id="170" name="Google Shape;170;p19"/>
          <p:cNvPicPr preferRelativeResize="0"/>
          <p:nvPr/>
        </p:nvPicPr>
        <p:blipFill rotWithShape="1">
          <a:blip r:embed="rId3">
            <a:alphaModFix/>
          </a:blip>
          <a:srcRect b="21321" l="0" r="0" t="0"/>
          <a:stretch/>
        </p:blipFill>
        <p:spPr>
          <a:xfrm>
            <a:off x="5359325" y="1307850"/>
            <a:ext cx="3784674" cy="266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958125" y="54375"/>
            <a:ext cx="70389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160"/>
              <a:t>Working of Pulse Sensor</a:t>
            </a:r>
            <a:endParaRPr sz="3160"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648800" y="661250"/>
            <a:ext cx="8218800" cy="44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latin typeface="Arial"/>
                <a:ea typeface="Arial"/>
                <a:cs typeface="Arial"/>
                <a:sym typeface="Arial"/>
              </a:rPr>
              <a:t>When your heart pumps blood: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●"/>
            </a:pPr>
            <a:r>
              <a:rPr lang="en-GB" sz="1900">
                <a:latin typeface="Arial"/>
                <a:ea typeface="Arial"/>
                <a:cs typeface="Arial"/>
                <a:sym typeface="Arial"/>
              </a:rPr>
              <a:t>Blood volume in your finger increases → </a:t>
            </a:r>
            <a:r>
              <a:rPr b="1" lang="en-GB" sz="1900">
                <a:latin typeface="Arial"/>
                <a:ea typeface="Arial"/>
                <a:cs typeface="Arial"/>
                <a:sym typeface="Arial"/>
              </a:rPr>
              <a:t>more light is absorbed</a:t>
            </a:r>
            <a:r>
              <a:rPr lang="en-GB" sz="19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lang="en-GB" sz="1900">
                <a:latin typeface="Arial"/>
                <a:ea typeface="Arial"/>
                <a:cs typeface="Arial"/>
                <a:sym typeface="Arial"/>
              </a:rPr>
              <a:t>less light reflected</a:t>
            </a:r>
            <a:r>
              <a:rPr lang="en-GB" sz="19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lang="en-GB" sz="1900">
                <a:latin typeface="Arial"/>
                <a:ea typeface="Arial"/>
                <a:cs typeface="Arial"/>
                <a:sym typeface="Arial"/>
              </a:rPr>
              <a:t>signal drops</a:t>
            </a:r>
            <a:r>
              <a:rPr lang="en-GB" sz="1900">
                <a:latin typeface="Arial"/>
                <a:ea typeface="Arial"/>
                <a:cs typeface="Arial"/>
                <a:sym typeface="Arial"/>
              </a:rPr>
              <a:t>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●"/>
            </a:pPr>
            <a:r>
              <a:rPr lang="en-GB" sz="1900">
                <a:latin typeface="Arial"/>
                <a:ea typeface="Arial"/>
                <a:cs typeface="Arial"/>
                <a:sym typeface="Arial"/>
              </a:rPr>
              <a:t>Between beats → </a:t>
            </a:r>
            <a:r>
              <a:rPr b="1" lang="en-GB" sz="1900">
                <a:latin typeface="Arial"/>
                <a:ea typeface="Arial"/>
                <a:cs typeface="Arial"/>
                <a:sym typeface="Arial"/>
              </a:rPr>
              <a:t>less blood volume</a:t>
            </a:r>
            <a:r>
              <a:rPr lang="en-GB" sz="19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lang="en-GB" sz="1900">
                <a:latin typeface="Arial"/>
                <a:ea typeface="Arial"/>
                <a:cs typeface="Arial"/>
                <a:sym typeface="Arial"/>
              </a:rPr>
              <a:t>more light reflected</a:t>
            </a:r>
            <a:r>
              <a:rPr lang="en-GB" sz="19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lang="en-GB" sz="1900">
                <a:latin typeface="Arial"/>
                <a:ea typeface="Arial"/>
                <a:cs typeface="Arial"/>
                <a:sym typeface="Arial"/>
              </a:rPr>
              <a:t>signal rises</a:t>
            </a:r>
            <a:r>
              <a:rPr lang="en-GB" sz="1900">
                <a:latin typeface="Arial"/>
                <a:ea typeface="Arial"/>
                <a:cs typeface="Arial"/>
                <a:sym typeface="Arial"/>
              </a:rPr>
              <a:t>. 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●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So the sensor produces a </a:t>
            </a: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wave-like voltage output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that looks like this: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b="4031" l="2009" r="13537" t="12495"/>
          <a:stretch/>
        </p:blipFill>
        <p:spPr>
          <a:xfrm>
            <a:off x="733625" y="3121650"/>
            <a:ext cx="4963225" cy="16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5855925" y="3047400"/>
            <a:ext cx="2916300" cy="19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peak in the waveform corresponds to one heartbeat, from which BPM (Beats Per Minute) is calculated.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2144125" y="4311850"/>
            <a:ext cx="49419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WORKING OF A PULSE SENSOR</a:t>
            </a:r>
            <a:endParaRPr sz="2400"/>
          </a:p>
        </p:txBody>
      </p:sp>
      <p:pic>
        <p:nvPicPr>
          <p:cNvPr id="184" name="Google Shape;184;p21" title="Pulse-Sensor-Working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950" y="439288"/>
            <a:ext cx="7143750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3564450" y="4315975"/>
            <a:ext cx="20151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CIRCUIT  DIAGRAM</a:t>
            </a:r>
            <a:endParaRPr sz="1600"/>
          </a:p>
        </p:txBody>
      </p:sp>
      <p:pic>
        <p:nvPicPr>
          <p:cNvPr id="190" name="Google Shape;19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2349" cy="400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1223250" y="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It All Comes Together</a:t>
            </a:r>
            <a:endParaRPr/>
          </a:p>
        </p:txBody>
      </p:sp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735425" y="777900"/>
            <a:ext cx="7846500" cy="43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9594" lvl="0" marL="457200" rtl="0" algn="l">
              <a:spcBef>
                <a:spcPts val="1200"/>
              </a:spcBef>
              <a:spcAft>
                <a:spcPts val="0"/>
              </a:spcAft>
              <a:buSzPts val="2063"/>
              <a:buFont typeface="Arial"/>
              <a:buChar char="●"/>
            </a:pPr>
            <a:r>
              <a:rPr lang="en-GB" sz="2062">
                <a:latin typeface="Arial"/>
                <a:ea typeface="Arial"/>
                <a:cs typeface="Arial"/>
                <a:sym typeface="Arial"/>
              </a:rPr>
              <a:t>Pulse sensor generates </a:t>
            </a:r>
            <a:r>
              <a:rPr b="1" lang="en-GB" sz="2062">
                <a:latin typeface="Arial"/>
                <a:ea typeface="Arial"/>
                <a:cs typeface="Arial"/>
                <a:sym typeface="Arial"/>
              </a:rPr>
              <a:t>analog signal</a:t>
            </a:r>
            <a:r>
              <a:rPr lang="en-GB" sz="2062">
                <a:latin typeface="Arial"/>
                <a:ea typeface="Arial"/>
                <a:cs typeface="Arial"/>
                <a:sym typeface="Arial"/>
              </a:rPr>
              <a:t> → changing voltage based on blood flow.</a:t>
            </a:r>
            <a:br>
              <a:rPr lang="en-GB" sz="2062">
                <a:latin typeface="Arial"/>
                <a:ea typeface="Arial"/>
                <a:cs typeface="Arial"/>
                <a:sym typeface="Arial"/>
              </a:rPr>
            </a:br>
            <a:endParaRPr sz="2062">
              <a:latin typeface="Arial"/>
              <a:ea typeface="Arial"/>
              <a:cs typeface="Arial"/>
              <a:sym typeface="Arial"/>
            </a:endParaRPr>
          </a:p>
          <a:p>
            <a:pPr indent="-35959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63"/>
              <a:buFont typeface="Arial"/>
              <a:buChar char="●"/>
            </a:pPr>
            <a:r>
              <a:rPr lang="en-GB" sz="2062">
                <a:latin typeface="Arial"/>
                <a:ea typeface="Arial"/>
                <a:cs typeface="Arial"/>
                <a:sym typeface="Arial"/>
              </a:rPr>
              <a:t>ESP32 reads the analog values.</a:t>
            </a:r>
            <a:br>
              <a:rPr lang="en-GB" sz="2062">
                <a:latin typeface="Arial"/>
                <a:ea typeface="Arial"/>
                <a:cs typeface="Arial"/>
                <a:sym typeface="Arial"/>
              </a:rPr>
            </a:br>
            <a:endParaRPr sz="2062">
              <a:latin typeface="Arial"/>
              <a:ea typeface="Arial"/>
              <a:cs typeface="Arial"/>
              <a:sym typeface="Arial"/>
            </a:endParaRPr>
          </a:p>
          <a:p>
            <a:pPr indent="-35959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63"/>
              <a:buFont typeface="Arial"/>
              <a:buChar char="●"/>
            </a:pPr>
            <a:r>
              <a:rPr lang="en-GB" sz="2062">
                <a:latin typeface="Arial"/>
                <a:ea typeface="Arial"/>
                <a:cs typeface="Arial"/>
                <a:sym typeface="Arial"/>
              </a:rPr>
              <a:t>ESP32 detects the </a:t>
            </a:r>
            <a:r>
              <a:rPr b="1" lang="en-GB" sz="2062">
                <a:latin typeface="Arial"/>
                <a:ea typeface="Arial"/>
                <a:cs typeface="Arial"/>
                <a:sym typeface="Arial"/>
              </a:rPr>
              <a:t>peaks</a:t>
            </a:r>
            <a:r>
              <a:rPr lang="en-GB" sz="2062">
                <a:latin typeface="Arial"/>
                <a:ea typeface="Arial"/>
                <a:cs typeface="Arial"/>
                <a:sym typeface="Arial"/>
              </a:rPr>
              <a:t> (each beat).</a:t>
            </a:r>
            <a:br>
              <a:rPr lang="en-GB" sz="2062">
                <a:latin typeface="Arial"/>
                <a:ea typeface="Arial"/>
                <a:cs typeface="Arial"/>
                <a:sym typeface="Arial"/>
              </a:rPr>
            </a:br>
            <a:endParaRPr sz="2062">
              <a:latin typeface="Arial"/>
              <a:ea typeface="Arial"/>
              <a:cs typeface="Arial"/>
              <a:sym typeface="Arial"/>
            </a:endParaRPr>
          </a:p>
          <a:p>
            <a:pPr indent="-35959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63"/>
              <a:buFont typeface="Arial"/>
              <a:buChar char="●"/>
            </a:pPr>
            <a:r>
              <a:rPr lang="en-GB" sz="2062">
                <a:latin typeface="Arial"/>
                <a:ea typeface="Arial"/>
                <a:cs typeface="Arial"/>
                <a:sym typeface="Arial"/>
              </a:rPr>
              <a:t>ESP32 calculates </a:t>
            </a:r>
            <a:r>
              <a:rPr b="1" lang="en-GB" sz="2062">
                <a:latin typeface="Arial"/>
                <a:ea typeface="Arial"/>
                <a:cs typeface="Arial"/>
                <a:sym typeface="Arial"/>
              </a:rPr>
              <a:t>BPM</a:t>
            </a:r>
            <a:r>
              <a:rPr lang="en-GB" sz="2062">
                <a:latin typeface="Arial"/>
                <a:ea typeface="Arial"/>
                <a:cs typeface="Arial"/>
                <a:sym typeface="Arial"/>
              </a:rPr>
              <a:t> using timing between peaks.</a:t>
            </a:r>
            <a:endParaRPr sz="2062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359594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63"/>
              <a:buFont typeface="Arial"/>
              <a:buChar char="●"/>
            </a:pPr>
            <a:r>
              <a:rPr lang="en-GB" sz="2062">
                <a:latin typeface="Arial"/>
                <a:ea typeface="Arial"/>
                <a:cs typeface="Arial"/>
                <a:sym typeface="Arial"/>
              </a:rPr>
              <a:t>BPM is then sent via </a:t>
            </a:r>
            <a:r>
              <a:rPr b="1" lang="en-GB" sz="2062">
                <a:latin typeface="Arial"/>
                <a:ea typeface="Arial"/>
                <a:cs typeface="Arial"/>
                <a:sym typeface="Arial"/>
              </a:rPr>
              <a:t>Wi-Fi</a:t>
            </a:r>
            <a:r>
              <a:rPr lang="en-GB" sz="2062">
                <a:latin typeface="Arial"/>
                <a:ea typeface="Arial"/>
                <a:cs typeface="Arial"/>
                <a:sym typeface="Arial"/>
              </a:rPr>
              <a:t> to your web dashboard for display.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900"/>
              <a:t>SOFTWARE</a:t>
            </a:r>
            <a:endParaRPr b="1" sz="2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Front-End Architecture</a:t>
            </a:r>
            <a:endParaRPr sz="3600"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"/>
              <a:buChar char="●"/>
            </a:pPr>
            <a:r>
              <a:rPr lang="en-GB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PulseLink web interface forms the core of user interaction, built using modern web technologies like HTML, CSS, and JavaScript.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"/>
              <a:buChar char="●"/>
            </a:pPr>
            <a:r>
              <a:rPr lang="en-GB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 provides a responsive, clean layout designed for real-time health monitoring.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297500" y="3720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 Real-Time Data Handling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1297500" y="1350075"/>
            <a:ext cx="7038900" cy="3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GB" sz="2000">
                <a:latin typeface="Roboto"/>
                <a:ea typeface="Roboto"/>
                <a:cs typeface="Roboto"/>
                <a:sym typeface="Roboto"/>
              </a:rPr>
              <a:t>Heartbeat data from the microcontroller is sent to a web server.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GB" sz="2000">
                <a:latin typeface="Roboto"/>
                <a:ea typeface="Roboto"/>
                <a:cs typeface="Roboto"/>
                <a:sym typeface="Roboto"/>
              </a:rPr>
              <a:t>The front end implements asynchronous communication—such as AJAX or WebSocket—to fetch data in real time.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GB" sz="2000">
                <a:latin typeface="Roboto"/>
                <a:ea typeface="Roboto"/>
                <a:cs typeface="Roboto"/>
                <a:sym typeface="Roboto"/>
              </a:rPr>
              <a:t>This ensures a fast user experience with minimal delay between measurement and display.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Data Visualization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97500" y="1491450"/>
            <a:ext cx="7038900" cy="3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GB" sz="2000">
                <a:latin typeface="Roboto"/>
                <a:ea typeface="Roboto"/>
                <a:cs typeface="Roboto"/>
                <a:sym typeface="Roboto"/>
              </a:rPr>
              <a:t>Incoming heartbeat readings are visualized on the webpage through dynamic graphs, charts, and updated numeric displays.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GB" sz="2000">
                <a:latin typeface="Roboto"/>
                <a:ea typeface="Roboto"/>
                <a:cs typeface="Roboto"/>
                <a:sym typeface="Roboto"/>
              </a:rPr>
              <a:t>Graphical representation allows users to interpret their health data instantly and track changes over time.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GB" sz="2000">
                <a:latin typeface="Roboto"/>
                <a:ea typeface="Roboto"/>
                <a:cs typeface="Roboto"/>
                <a:sym typeface="Roboto"/>
              </a:rPr>
              <a:t>The interface supports continuous live updates as new sensor data arrives.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User Experience and Accessibility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1297500" y="1567550"/>
            <a:ext cx="7038900" cy="30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GB" sz="2000">
                <a:latin typeface="Roboto"/>
                <a:ea typeface="Roboto"/>
                <a:cs typeface="Roboto"/>
                <a:sym typeface="Roboto"/>
              </a:rPr>
              <a:t>The layout is designed for accessibility, allowing seamless monitoring from PCs, tablets, or smartphones.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GB" sz="2000">
                <a:latin typeface="Roboto"/>
                <a:ea typeface="Roboto"/>
                <a:cs typeface="Roboto"/>
                <a:sym typeface="Roboto"/>
              </a:rPr>
              <a:t>Emphasis on user-friendly controls and clear organization of information enables quick adoption—even for non-technical users.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Synchronization and Accuracy</a:t>
            </a:r>
            <a:endParaRPr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GB" sz="2000">
                <a:latin typeface="Roboto"/>
                <a:ea typeface="Roboto"/>
                <a:cs typeface="Roboto"/>
                <a:sym typeface="Roboto"/>
              </a:rPr>
              <a:t>The system uses robust data synchronization between backend and frontend, maintaining real-time accuracy.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●"/>
            </a:pPr>
            <a:r>
              <a:rPr lang="en-GB" sz="2000">
                <a:latin typeface="Roboto"/>
                <a:ea typeface="Roboto"/>
                <a:cs typeface="Roboto"/>
                <a:sym typeface="Roboto"/>
              </a:rPr>
              <a:t>Validation routines and error-handling mechanisms are in place—ensuring the reliability and correctness of displayed data.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Benefits &amp; Advantages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title"/>
          </p:nvPr>
        </p:nvSpPr>
        <p:spPr>
          <a:xfrm>
            <a:off x="1297500" y="393750"/>
            <a:ext cx="7038900" cy="1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Real-Time Heartbeat Monitoring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42" name="Google Shape;242;p31"/>
          <p:cNvSpPr txBox="1"/>
          <p:nvPr>
            <p:ph idx="1" type="body"/>
          </p:nvPr>
        </p:nvSpPr>
        <p:spPr>
          <a:xfrm>
            <a:off x="1297500" y="2018700"/>
            <a:ext cx="7038900" cy="24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•Measures heartbeat continuously and displays real-time readings.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•Helps in immediate detection of irregular heartbeat patterns.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•Ensures users are aware of sudden cardiac fluctuations.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1297500" y="393750"/>
            <a:ext cx="7038900" cy="15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Arial"/>
                <a:ea typeface="Arial"/>
                <a:cs typeface="Arial"/>
                <a:sym typeface="Arial"/>
              </a:rPr>
              <a:t>Remote Monitoring and Accessibility</a:t>
            </a:r>
            <a:endParaRPr/>
          </a:p>
        </p:txBody>
      </p:sp>
      <p:sp>
        <p:nvSpPr>
          <p:cNvPr id="248" name="Google Shape;248;p32"/>
          <p:cNvSpPr txBox="1"/>
          <p:nvPr>
            <p:ph idx="1" type="body"/>
          </p:nvPr>
        </p:nvSpPr>
        <p:spPr>
          <a:xfrm>
            <a:off x="1297500" y="2114150"/>
            <a:ext cx="7038900" cy="23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•Data can be accessed through a live web interface from anywhere.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•Supports patient monitoring in remote or rural areas.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•Facilitates telemedicine and home-based healthcare.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1297500" y="393750"/>
            <a:ext cx="7038900" cy="16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Arial"/>
                <a:ea typeface="Arial"/>
                <a:cs typeface="Arial"/>
                <a:sym typeface="Arial"/>
              </a:rPr>
              <a:t>Data Logging and Analysis</a:t>
            </a:r>
            <a:endParaRPr/>
          </a:p>
        </p:txBody>
      </p:sp>
      <p:sp>
        <p:nvSpPr>
          <p:cNvPr id="254" name="Google Shape;254;p33"/>
          <p:cNvSpPr txBox="1"/>
          <p:nvPr>
            <p:ph idx="1" type="body"/>
          </p:nvPr>
        </p:nvSpPr>
        <p:spPr>
          <a:xfrm>
            <a:off x="1297500" y="1530875"/>
            <a:ext cx="7038900" cy="29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•Stores heartbeat data for long-term health tracking.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•Enables users to visualize heartbeat trends and patterns.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•Helps doctors analyze and make informed medical decisions.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>
            <p:ph type="title"/>
          </p:nvPr>
        </p:nvSpPr>
        <p:spPr>
          <a:xfrm>
            <a:off x="1297500" y="393750"/>
            <a:ext cx="7038900" cy="15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Arial"/>
                <a:ea typeface="Arial"/>
                <a:cs typeface="Arial"/>
                <a:sym typeface="Arial"/>
              </a:rPr>
              <a:t>Cost-Effective and Scalable Solution</a:t>
            </a:r>
            <a:endParaRPr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1297500" y="2008100"/>
            <a:ext cx="7038900" cy="24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•Uses low-cost components like pulse sensors and microcontrollers.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•Affordable for personal and institutional use.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•Can easily be scaled for multiple users or hospital setups.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/>
          <p:cNvSpPr txBox="1"/>
          <p:nvPr>
            <p:ph type="title"/>
          </p:nvPr>
        </p:nvSpPr>
        <p:spPr>
          <a:xfrm>
            <a:off x="1297500" y="393750"/>
            <a:ext cx="7038900" cy="11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Arial"/>
                <a:ea typeface="Arial"/>
                <a:cs typeface="Arial"/>
                <a:sym typeface="Arial"/>
              </a:rPr>
              <a:t>User-Friendly Interface</a:t>
            </a:r>
            <a:endParaRPr/>
          </a:p>
        </p:txBody>
      </p:sp>
      <p:sp>
        <p:nvSpPr>
          <p:cNvPr id="266" name="Google Shape;266;p35"/>
          <p:cNvSpPr txBox="1"/>
          <p:nvPr>
            <p:ph idx="1" type="body"/>
          </p:nvPr>
        </p:nvSpPr>
        <p:spPr>
          <a:xfrm>
            <a:off x="1297500" y="1583900"/>
            <a:ext cx="7038900" cy="28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•Simple and interactive dashboard to display health data.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•Clear graphs and visuals improve understanding of heartbeat patterns.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•Minimal setup and easy-to-use design for all age groups.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/>
          <p:nvPr>
            <p:ph type="title"/>
          </p:nvPr>
        </p:nvSpPr>
        <p:spPr>
          <a:xfrm>
            <a:off x="1297500" y="393750"/>
            <a:ext cx="7038900" cy="14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Arial"/>
                <a:ea typeface="Arial"/>
                <a:cs typeface="Arial"/>
                <a:sym typeface="Arial"/>
              </a:rPr>
              <a:t>Real-Time Alerts and Notifications</a:t>
            </a:r>
            <a:endParaRPr/>
          </a:p>
        </p:txBody>
      </p:sp>
      <p:sp>
        <p:nvSpPr>
          <p:cNvPr id="272" name="Google Shape;272;p36"/>
          <p:cNvSpPr txBox="1"/>
          <p:nvPr>
            <p:ph idx="1" type="body"/>
          </p:nvPr>
        </p:nvSpPr>
        <p:spPr>
          <a:xfrm>
            <a:off x="1297500" y="1817250"/>
            <a:ext cx="7038900" cy="26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•Triggers alerts when heartbeat crosses safe thresholds.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•Supports safety measures for patients with heart conditions.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•Improves response time in emergencies.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title"/>
          </p:nvPr>
        </p:nvSpPr>
        <p:spPr>
          <a:xfrm>
            <a:off x="1297500" y="393750"/>
            <a:ext cx="7038900" cy="14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Arial"/>
                <a:ea typeface="Arial"/>
                <a:cs typeface="Arial"/>
                <a:sym typeface="Arial"/>
              </a:rPr>
              <a:t>Integration with Other Health Systems</a:t>
            </a:r>
            <a:endParaRPr/>
          </a:p>
        </p:txBody>
      </p:sp>
      <p:sp>
        <p:nvSpPr>
          <p:cNvPr id="278" name="Google Shape;278;p37"/>
          <p:cNvSpPr txBox="1"/>
          <p:nvPr>
            <p:ph idx="1" type="body"/>
          </p:nvPr>
        </p:nvSpPr>
        <p:spPr>
          <a:xfrm>
            <a:off x="1297500" y="1859550"/>
            <a:ext cx="7038900" cy="26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•Can be combined with SpO₂, temperature, and ECG sensors.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•Expands to a complete health monitoring ecosystem.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•Supports IoT-based healthcare research and innovation.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/>
          <p:nvPr>
            <p:ph type="title"/>
          </p:nvPr>
        </p:nvSpPr>
        <p:spPr>
          <a:xfrm>
            <a:off x="1297500" y="393750"/>
            <a:ext cx="70389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Arial"/>
                <a:ea typeface="Arial"/>
                <a:cs typeface="Arial"/>
                <a:sym typeface="Arial"/>
              </a:rPr>
              <a:t>Applications of PulseLink</a:t>
            </a:r>
            <a:endParaRPr/>
          </a:p>
        </p:txBody>
      </p:sp>
      <p:sp>
        <p:nvSpPr>
          <p:cNvPr id="284" name="Google Shape;284;p38"/>
          <p:cNvSpPr txBox="1"/>
          <p:nvPr>
            <p:ph idx="1" type="body"/>
          </p:nvPr>
        </p:nvSpPr>
        <p:spPr>
          <a:xfrm>
            <a:off x="1297500" y="1690050"/>
            <a:ext cx="7038900" cy="27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•Remote patient monitoring.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•Fitness and athletic performance tracking.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•Elderly care and post-surgery follow-ups.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•Health data collection for research purposes.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290" name="Google Shape;290;p3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•PulseLink offers accurate and continuous heart monitoring.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•Enhances healthcare accessibility and user awareness.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•A smart, affordable step toward real-time digital health.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